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embeddedFontLst>
    <p:embeddedFont>
      <p:font typeface="JetBrains Mono SemiBold"/>
      <p:regular r:id="rId201314"/>
    </p:embeddedFont>
    <p:embeddedFont>
      <p:font typeface="JetBrains Mono Bold"/>
      <p:regular r:id="rId201315"/>
    </p:embeddedFont>
    <p:embeddedFont>
      <p:font typeface="PT Sans"/>
      <p:regular r:id="rId201316"/>
    </p:embeddedFont>
    <p:embeddedFont>
      <p:font typeface="P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8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9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0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1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2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3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4">
    <p:bg>
      <p:bgPr>
        <a:solidFill>
          <a:srgbClr val="F3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7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434581"/>
            <a:ext cx="11658308" cy="198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spc="67" kern="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BOTANY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3387" y="861912"/>
            <a:ext cx="11124922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10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PLASTIDS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33387" y="2309356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colour and energy factories of plant cells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33387" y="5759847"/>
            <a:ext cx="831432" cy="287139"/>
          </a:xfrm>
          <a:prstGeom prst="roundRect">
            <a:avLst>
              <a:gd name="adj" fmla="val 49999"/>
            </a:avLst>
          </a:prstGeom>
          <a:solidFill>
            <a:srgbClr val="CFD6FC"/>
          </a:solidFill>
          <a:ln/>
        </p:spPr>
      </p:sp>
      <p:sp>
        <p:nvSpPr>
          <p:cNvPr id="6" name="Text 4"/>
          <p:cNvSpPr/>
          <p:nvPr/>
        </p:nvSpPr>
        <p:spPr>
          <a:xfrm>
            <a:off x="646692" y="5823005"/>
            <a:ext cx="121440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SEMINAR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3387" y="6223624"/>
            <a:ext cx="11658308" cy="2077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Presented and introduced by </a:t>
            </a:r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Vivek VM</a:t>
            </a:r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indent="0" marL="0">
              <a:lnSpc>
                <a:spcPct val="11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Prijith 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22756"/>
            <a:ext cx="5516821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 puzzle to begin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3851513"/>
            <a:ext cx="6126406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Why is a leaf green, a tomato red and a potato white?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09585" y="4325082"/>
            <a:ext cx="61264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small organelle decides it: the </a:t>
            </a:r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plastid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1412145" cy="141228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269" y="609600"/>
            <a:ext cx="192976" cy="193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10018" y="0"/>
            <a:ext cx="1412244" cy="141228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9602" y="609600"/>
            <a:ext cx="193075" cy="193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779451" y="0"/>
            <a:ext cx="1412244" cy="141228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035" y="609600"/>
            <a:ext cx="193075" cy="193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3599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3599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50269" y="1826663"/>
            <a:ext cx="3931841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What are plastids?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7650269" y="3350022"/>
            <a:ext cx="3931841" cy="1730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Large organelles, easily seen under the microscope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Carry specific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pigments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that give plants their colours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Found in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all plant cells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in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euglenoids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Absent in animal cells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8858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Three types of plastids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516993"/>
            <a:ext cx="1158211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pigment decides the plastid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9585" y="1947763"/>
            <a:ext cx="3454314" cy="4300637"/>
          </a:xfrm>
          <a:prstGeom prst="roundRect">
            <a:avLst>
              <a:gd name="adj" fmla="val 8206"/>
            </a:avLst>
          </a:prstGeom>
          <a:solidFill>
            <a:srgbClr val="B8ECCE">
              <a:alpha val="7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735" y="2176363"/>
            <a:ext cx="377915" cy="377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685869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Chloroplasts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38179" y="3086633"/>
            <a:ext cx="29971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green, trap light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68691" y="1947763"/>
            <a:ext cx="3454314" cy="4300637"/>
          </a:xfrm>
          <a:prstGeom prst="roundRect">
            <a:avLst>
              <a:gd name="adj" fmla="val 8206"/>
            </a:avLst>
          </a:prstGeom>
          <a:solidFill>
            <a:srgbClr val="FFDEA3">
              <a:alpha val="72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841" y="2176363"/>
            <a:ext cx="377915" cy="377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685869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Chromoplasts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597285" y="3086633"/>
            <a:ext cx="29971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yellow, orange, red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27797" y="1947763"/>
            <a:ext cx="3454314" cy="4300637"/>
          </a:xfrm>
          <a:prstGeom prst="roundRect">
            <a:avLst>
              <a:gd name="adj" fmla="val 8206"/>
            </a:avLst>
          </a:prstGeom>
          <a:solidFill>
            <a:srgbClr val="EBEFF2">
              <a:alpha val="82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9560" y="2176363"/>
            <a:ext cx="330688" cy="3779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2685869"/>
            <a:ext cx="29971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-120"/>
              </a:rPr>
              <a:t>Leucoplasts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356391" y="3086633"/>
            <a:ext cx="29971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colourless, store food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12090"/>
            <a:ext cx="5516821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Chloroplast: the green solar factory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4105970"/>
            <a:ext cx="5516821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Contains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chlorophyll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and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carotenoid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pigments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Traps light energy needed for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photosynthesis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Found mostly in the 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mesophyll cells</a:t>
            </a:r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of leaves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040684" y="0"/>
            <a:ext cx="515101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5101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51011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65289" y="657505"/>
            <a:ext cx="5516821" cy="129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Chloroplast at a glance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065289" y="2196725"/>
            <a:ext cx="2529816" cy="1224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5 to 10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065289" y="3467993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Length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065289" y="3813642"/>
            <a:ext cx="2758411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micrometres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052294" y="2502815"/>
            <a:ext cx="2529816" cy="612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 to 4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9052294" y="3161804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Width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9052294" y="3507453"/>
            <a:ext cx="252981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micrometres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065289" y="4768971"/>
            <a:ext cx="2529816" cy="6122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065289" y="5427960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per cell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065289" y="5773609"/>
            <a:ext cx="2529816" cy="501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Chlamydomonas (a green alga)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52294" y="4588095"/>
            <a:ext cx="2529816" cy="1224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20 to 40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9052294" y="5859363"/>
            <a:ext cx="2529816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per cell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9052294" y="6205013"/>
            <a:ext cx="252981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 mesophyll cells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065289" y="6614885"/>
            <a:ext cx="6126406" cy="250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Shape: lens-shaped, oval, spherical, discoid or ribbon-like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8817350" y="2125960"/>
            <a:ext cx="12700" cy="21627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065289" y="4282380"/>
            <a:ext cx="2758411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817350" y="4288730"/>
            <a:ext cx="12700" cy="216277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8823700" y="4282380"/>
            <a:ext cx="2758411" cy="1270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1068"/>
            <a:ext cx="10972526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Let us build a chloroplast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1573907"/>
            <a:ext cx="10972526" cy="700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Figure 8.8: Sectional view of a chloroplast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Six parts, one at a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509980" y="6460530"/>
            <a:ext cx="681715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</a:t>
            </a:r>
            <a:endParaRPr lang="en-US" sz="1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933" y="2422227"/>
            <a:ext cx="6857828" cy="3746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1: Outer membrane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outer boundary of the chloroplast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 of its </a:t>
            </a:r>
            <a:pPr algn="l" indent="0" marL="0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two membranes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60571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2: Inner membrane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277731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Lies just inside the outer membrane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746004"/>
            <a:ext cx="11124922" cy="700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Relatively </a:t>
            </a:r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less permeable</a:t>
            </a:r>
            <a:endParaRPr lang="en-US" sz="15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Encloses the stroma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364627"/>
            <a:ext cx="5516821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3: Stroma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09585" y="3222762"/>
            <a:ext cx="612640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 space inside the inner membrane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3653532"/>
            <a:ext cx="5516821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Enzymes to make carbohydrates and proteins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Small circular double-stranded DNA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70S ribosomes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684" y="0"/>
            <a:ext cx="5151011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684" y="0"/>
            <a:ext cx="5151011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460530"/>
            <a:ext cx="753746" cy="1852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522484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4: Thylakoids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339644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Flattened membranous sacs inside the stroma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807916"/>
            <a:ext cx="1112492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Chlorophyll pigments sit here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Their membrane encloses a space called the lumen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5: Granum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Thylakoids stacked like a pile of coins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Many stacks = grana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Part 6: Stroma lamellae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Flat membranous tubules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They connect the thylakoids of different grana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1321838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2E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The journey of sunlight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2138998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Sun, then leaf, then mesophyll cell, then chloroplast. Zoom in: sunlight reaches the grana.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581400"/>
            <a:ext cx="2819329" cy="3276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124122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122" y="3581400"/>
            <a:ext cx="2819329" cy="3276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48244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3581400"/>
            <a:ext cx="2819329" cy="32766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372366" y="3581400"/>
            <a:ext cx="2819329" cy="3276600"/>
          </a:xfrm>
          <a:prstGeom prst="rect">
            <a:avLst/>
          </a:prstGeom>
          <a:solidFill>
            <a:srgbClr val="FFFFFF">
              <a:alpha val="72000"/>
            </a:srgbClr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366" y="3581400"/>
            <a:ext cx="2819329" cy="3276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03148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Photosynthesis begins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14911"/>
            <a:ext cx="11124922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Grana: light reactions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Stroma: dark reactions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Light energy is trapped and food is made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24059"/>
            <a:ext cx="1112492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Chromoplasts: the colour makers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906341"/>
            <a:ext cx="11124922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Contain fat-soluble carotenoids: carotene, xanthophylls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Give yellow, orange or red colour to plant parts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366313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Leucoplasts: the storage rooms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183473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Colourless plastids of varied shapes and sizes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651746"/>
            <a:ext cx="11124922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Amyloplasts: starch, e.g. potato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Elaioplasts: oils and fats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Aleuroplasts: proteins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267888"/>
            <a:ext cx="11124922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Chloroplast and mitochondria: alike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750171"/>
            <a:ext cx="11124922" cy="8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Both have a double membrane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Both have their own circular DNA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Both have 70S ribosomes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447077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Summary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258840"/>
            <a:ext cx="11124922" cy="120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Plastids are pigment-bearing organelles of plants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Chloroplast, chromoplast, leucoplast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Chloroplast: outer and inner membrane, stroma, thylakoids, grana, stroma lamellae</a:t>
            </a:r>
            <a:endParaRPr lang="en-US" sz="1500" dirty="0"/>
          </a:p>
          <a:p>
            <a:pPr algn="l" marL="304800" indent="-304800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Light reactions in grana, dark reactions in stroma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896638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Quiz time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713798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Spin the wheel. Who is next?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2678555"/>
            <a:ext cx="11124922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dirty="0">
                <a:solidFill>
                  <a:srgbClr val="000000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33387" y="3495715"/>
            <a:ext cx="1165830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Questions?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33387" y="3969283"/>
            <a:ext cx="1165830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Vivek VM and Prijith 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2026-10-14T16:42:51Z</dcterms:created>
  <dcterms:modified xsi:type="dcterms:W3CDTF">2026-10-14T16:42:51Z</dcterms:modified>
</cp:coreProperties>
</file>